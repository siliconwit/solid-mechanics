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57" r:id="rId4"/>
    <p:sldId id="269" r:id="rId5"/>
    <p:sldId id="271" r:id="rId6"/>
    <p:sldId id="270" r:id="rId7"/>
    <p:sldId id="272" r:id="rId8"/>
    <p:sldId id="266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922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DCB72-F30D-217C-5C3C-638DE2118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3B3235-4C78-8EB9-D70B-EDF7BC1D5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CCC51-0764-F860-DF56-321C63450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758B-2AC9-4F40-88FD-1B6BC0CD83EC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BEEBF-14BF-501A-3C55-FB55C9C16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BCB11-3D28-1EE5-1B55-FB212A45D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64B82-6197-453C-B6A2-7063D4EF3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358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372B9-366F-78B3-6859-52F009D50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05D3A-E3ED-A470-23E7-AC838FB4B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98CE6-DDD9-A05F-C230-49946D12F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758B-2AC9-4F40-88FD-1B6BC0CD83EC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681B9-9689-EA13-D643-F26847FA3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63E0A-3636-DA71-13B6-13DF7BBD8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64B82-6197-453C-B6A2-7063D4EF3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001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210F9-FB69-026E-35EB-30DAC2C0E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547EC-932D-B045-E2DE-2F6C4AD5C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83F37-68DA-4364-BA0D-2300C81D5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758B-2AC9-4F40-88FD-1B6BC0CD83EC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D254B-7D4A-C47A-3275-4ABC5AF83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7B2A9-664A-E94F-4A40-008B7A135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64B82-6197-453C-B6A2-7063D4EF3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03C98-ABC9-3445-1AB8-3657C318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CEC53-497A-2A90-F8D8-9DF0C38C88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C3DB6-F54B-1F3B-5BED-D24226896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32077-26FC-9CFF-37C2-1454CF888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758B-2AC9-4F40-88FD-1B6BC0CD83EC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C7D22-0A3A-249F-4F09-7517975C5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1035E-B3A9-39E6-6902-F764F09B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64B82-6197-453C-B6A2-7063D4EF3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15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F6809-5E73-D178-AE89-05F49FFB9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10CA3-AB73-1B2F-697F-8EA8A6C11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92EB3F-7AFD-1A9F-25AE-7750EBBE9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DAEE7E-6AE4-F9F4-FD14-808A727AF0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5D7B23-9272-F9F1-3782-74730E5DD5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46361-A67D-9975-8C50-99902CD0A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758B-2AC9-4F40-88FD-1B6BC0CD83EC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B73D59-B73D-1ECC-18ED-26A6490A6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B661AF-B6D5-0D4B-61DE-C772475F3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64B82-6197-453C-B6A2-7063D4EF3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77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F1514-52B8-FC13-EBBA-3F65E5A1C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C94841-F565-8C38-752B-FD66E97D7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758B-2AC9-4F40-88FD-1B6BC0CD83EC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E75FAD-70B3-E303-9315-B70C4E529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ADE4C8-F070-3C66-7389-D5CD356D3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64B82-6197-453C-B6A2-7063D4EF3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672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12BF44-2723-26A0-F19E-005BD32EC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758B-2AC9-4F40-88FD-1B6BC0CD83EC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4C503-FF82-4C62-620C-A15CCBEAC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79990-F51E-5D4B-D8C3-9C918B1C0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64B82-6197-453C-B6A2-7063D4EF3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340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271DA-A4F7-E658-4176-82159CC36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3D4BD-4FE5-AFF4-CAC2-86B2361D4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BB300-1339-C6C9-EF5E-3CDD0E3A6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C1036-7282-4275-4266-267692952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758B-2AC9-4F40-88FD-1B6BC0CD83EC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D442C-218E-79C1-77A6-0B61F1D2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896C8-8CBC-C444-BF84-DEE8594DD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64B82-6197-453C-B6A2-7063D4EF3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9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571E7-6701-9FDB-F10F-66E3407F1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C79F5F-DF0F-7D6C-60A2-B8B0F5A9E5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AA07C-FBA9-AB41-0167-7076F2847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A22D6-3C9C-C831-1CEC-2E4627E00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758B-2AC9-4F40-88FD-1B6BC0CD83EC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EB569-422E-F1F3-3902-E9440A2F2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FA870-F326-8A22-B3BA-636213EC4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64B82-6197-453C-B6A2-7063D4EF3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23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C4F96-CD18-1962-44C7-CC984C67B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4C91FB-A9F5-F9E5-1928-4AA4A12126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0D8DA-9F4F-5668-8207-8E2853985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758B-2AC9-4F40-88FD-1B6BC0CD83EC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96000-A82E-F275-4455-7DDEA92BA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2DD3C-C526-9F3E-119D-FD8B5418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64B82-6197-453C-B6A2-7063D4EF3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913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71FB81-DCA4-317E-0040-858D669BE1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2FD2FF-D736-D95C-B93C-8E7A985DE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8694B-9F79-C331-BFC5-7AB92FB6C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758B-2AC9-4F40-88FD-1B6BC0CD83EC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2D438-225A-8C47-3576-76CECC1BA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394C-5F5E-E630-A9FF-E0D14CF66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64B82-6197-453C-B6A2-7063D4EF3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730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8CEB0-770E-5F83-D1C9-B65197215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64214-6AA2-5F43-CC42-91C95B6F6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15470-1EA6-480A-B49A-A3D43D8C4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8758B-2AC9-4F40-88FD-1B6BC0CD83EC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1C45F-975A-E7BB-9582-D42F106C3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69B52-D215-53B7-3DCB-52C82E1D21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64B82-6197-453C-B6A2-7063D4EF3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827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2A203-81DB-E58A-1EB2-9EFDE31F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Tw Cen MT" panose="020B0602020104020603" pitchFamily="34" charset="0"/>
              </a:rPr>
              <a:t>TECHNICAL MECHANICS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B4ABF-E0A1-B134-868B-12117B204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Tw Cen MT" panose="020B0602020104020603" pitchFamily="34" charset="0"/>
              </a:rPr>
              <a:t>MUGWE JOHN NJOROGE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Tw Cen MT" panose="020B0602020104020603" pitchFamily="34" charset="0"/>
              </a:rPr>
              <a:t>E022-01-2374/2023</a:t>
            </a:r>
          </a:p>
        </p:txBody>
      </p:sp>
    </p:spTree>
    <p:extLst>
      <p:ext uri="{BB962C8B-B14F-4D97-AF65-F5344CB8AC3E}">
        <p14:creationId xmlns:p14="http://schemas.microsoft.com/office/powerpoint/2010/main" val="195267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CEE7E-5B78-365E-D528-F78461DAA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w Cen MT" panose="020B0602020104020603" pitchFamily="34" charset="0"/>
              </a:rPr>
              <a:t>ANALYSIS OF A BEAM WITH AN INCLINED 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DA888-4C66-8F5D-58FC-90B3CA98C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b="0" i="0" dirty="0">
                <a:solidFill>
                  <a:srgbClr val="374151"/>
                </a:solidFill>
                <a:effectLst/>
                <a:latin typeface="Tw Cen MT" panose="020B0602020104020603" pitchFamily="34" charset="0"/>
              </a:rPr>
              <a:t>In the design of structures for buildings or machine members, several challenges can be addressed or enhanced by coding</a:t>
            </a:r>
          </a:p>
          <a:p>
            <a:r>
              <a:rPr lang="en-US" sz="3200" b="0" i="0" dirty="0">
                <a:solidFill>
                  <a:srgbClr val="374151"/>
                </a:solidFill>
                <a:effectLst/>
                <a:latin typeface="Tw Cen MT" panose="020B0602020104020603" pitchFamily="34" charset="0"/>
              </a:rPr>
              <a:t>Structural designs often involve iterative processes, especially when dealing with complex geometries or load variations. Coding allows for rapid iteration and analysis, enabling engineers to explore numerous design options efficiently</a:t>
            </a:r>
            <a:endParaRPr lang="en-US" sz="3200" dirty="0">
              <a:solidFill>
                <a:srgbClr val="374151"/>
              </a:solidFill>
              <a:latin typeface="Tw Cen MT" panose="020B0602020104020603" pitchFamily="34" charset="0"/>
            </a:endParaRPr>
          </a:p>
          <a:p>
            <a:r>
              <a:rPr lang="en-US" sz="3200" b="0" i="0" dirty="0">
                <a:solidFill>
                  <a:srgbClr val="374151"/>
                </a:solidFill>
                <a:effectLst/>
                <a:latin typeface="Tw Cen MT" panose="020B0602020104020603" pitchFamily="34" charset="0"/>
              </a:rPr>
              <a:t>By using coding and computational tools, engineers can address these challenges effectively, leading to more robust, efficient, and cost-effective designs in the realm of steel structures.</a:t>
            </a:r>
            <a:endParaRPr lang="en-US" sz="32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291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AEF1-16B6-148B-937D-448DE3013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15536" cy="1460500"/>
          </a:xfrm>
        </p:spPr>
        <p:txBody>
          <a:bodyPr>
            <a:noAutofit/>
          </a:bodyPr>
          <a:lstStyle/>
          <a:p>
            <a:r>
              <a:rPr lang="en-US" sz="3200" b="0" i="0" dirty="0">
                <a:solidFill>
                  <a:srgbClr val="444444"/>
                </a:solidFill>
                <a:effectLst/>
                <a:latin typeface="Tw Cen MT" panose="020B0602020104020603" pitchFamily="34" charset="0"/>
              </a:rPr>
              <a:t>In this problem the user could either determine sections of the elements of structures, such as trusses, columns and beams </a:t>
            </a:r>
            <a:r>
              <a:rPr lang="en-US" sz="3200" b="0" i="0" dirty="0" err="1">
                <a:solidFill>
                  <a:srgbClr val="444444"/>
                </a:solidFill>
                <a:effectLst/>
                <a:latin typeface="Tw Cen MT" panose="020B0602020104020603" pitchFamily="34" charset="0"/>
              </a:rPr>
              <a:t>etc</a:t>
            </a:r>
            <a:r>
              <a:rPr lang="en-US" sz="3200" b="0" i="0" dirty="0">
                <a:solidFill>
                  <a:srgbClr val="444444"/>
                </a:solidFill>
                <a:effectLst/>
                <a:latin typeface="Tw Cen MT" panose="020B0602020104020603" pitchFamily="34" charset="0"/>
              </a:rPr>
              <a:t> </a:t>
            </a:r>
            <a:endParaRPr lang="en-US" sz="3200" dirty="0">
              <a:latin typeface="Tw Cen MT" panose="020B06020201040206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FE060-A7C1-BA5A-113D-EAB3299BA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000" b="0" i="0" dirty="0">
                <a:solidFill>
                  <a:srgbClr val="444444"/>
                </a:solidFill>
                <a:effectLst/>
                <a:latin typeface="Tw Cen MT" panose="020B0602020104020603" pitchFamily="34" charset="0"/>
              </a:rPr>
              <a:t>Selection procedure: for every element of structure included into design model the program determines the cross-section with min area; the cross-section should take loads defined in design model. To reduce the number of selected cross-sections, elements of design model may be either united into structural elements or unified.</a:t>
            </a:r>
          </a:p>
          <a:p>
            <a:endParaRPr lang="en-US" sz="32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825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A4FE2-A588-E560-CAC7-3D01C5426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020"/>
            <a:ext cx="9144000" cy="70174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w Cen MT" panose="020B0602020104020603" pitchFamily="34" charset="0"/>
              </a:rPr>
              <a:t>Beam Problem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269343-C222-9100-815A-0CC3BB6AA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417" y="903767"/>
            <a:ext cx="7315200" cy="5375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071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6730A-B6BD-F172-75BE-464EE1FEC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46297"/>
          </a:xfrm>
        </p:spPr>
        <p:txBody>
          <a:bodyPr/>
          <a:lstStyle/>
          <a:p>
            <a:r>
              <a:rPr lang="en-US" dirty="0">
                <a:latin typeface="Tw Cen MT" panose="020B0602020104020603" pitchFamily="34" charset="0"/>
              </a:rPr>
              <a:t>Calculations for Reaction Forces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78D26F-1101-9B49-9C3E-982079E724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972" y="712381"/>
            <a:ext cx="8156552" cy="5943600"/>
          </a:xfrm>
        </p:spPr>
      </p:pic>
    </p:spTree>
    <p:extLst>
      <p:ext uri="{BB962C8B-B14F-4D97-AF65-F5344CB8AC3E}">
        <p14:creationId xmlns:p14="http://schemas.microsoft.com/office/powerpoint/2010/main" val="3747217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38344-EB4C-2EB1-64E4-A2D00ABE4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w Cen MT" panose="020B0602020104020603" pitchFamily="34" charset="0"/>
              </a:rPr>
              <a:t>Calculations for Shear Forces and Bending Moments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D023A6-8842-2110-042C-5874AE9E6F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461"/>
          <a:stretch/>
        </p:blipFill>
        <p:spPr>
          <a:xfrm>
            <a:off x="1313145" y="1803915"/>
            <a:ext cx="9161571" cy="4572000"/>
          </a:xfrm>
        </p:spPr>
      </p:pic>
    </p:spTree>
    <p:extLst>
      <p:ext uri="{BB962C8B-B14F-4D97-AF65-F5344CB8AC3E}">
        <p14:creationId xmlns:p14="http://schemas.microsoft.com/office/powerpoint/2010/main" val="2663058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304E9-C815-61D3-D8B0-7F0DAA01D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753"/>
            <a:ext cx="3648740" cy="1775866"/>
          </a:xfrm>
        </p:spPr>
        <p:txBody>
          <a:bodyPr/>
          <a:lstStyle/>
          <a:p>
            <a:r>
              <a:rPr lang="en-US" dirty="0">
                <a:latin typeface="Tw Cen MT" panose="020B0602020104020603" pitchFamily="34" charset="0"/>
              </a:rPr>
              <a:t>SFD AND BMD</a:t>
            </a:r>
            <a:br>
              <a:rPr lang="en-US" dirty="0">
                <a:latin typeface="Tw Cen MT" panose="020B0602020104020603" pitchFamily="34" charset="0"/>
              </a:rPr>
            </a:br>
            <a:r>
              <a:rPr lang="en-US" dirty="0">
                <a:latin typeface="Tw Cen MT" panose="020B0602020104020603" pitchFamily="34" charset="0"/>
              </a:rPr>
              <a:t>FROM 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C2E4D8-5897-2692-A979-BBD25FB7F6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940" y="0"/>
            <a:ext cx="7705060" cy="7017488"/>
          </a:xfrm>
        </p:spPr>
      </p:pic>
    </p:spTree>
    <p:extLst>
      <p:ext uri="{BB962C8B-B14F-4D97-AF65-F5344CB8AC3E}">
        <p14:creationId xmlns:p14="http://schemas.microsoft.com/office/powerpoint/2010/main" val="1541328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5CF72-C230-FC39-35D0-5831E8874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Tw Cen MT" panose="020B0602020104020603" pitchFamily="34" charset="0"/>
              </a:rPr>
              <a:t>OUTPUT DATA FROM CODE</a:t>
            </a:r>
            <a:br>
              <a:rPr lang="en-US" b="0" i="0" dirty="0">
                <a:solidFill>
                  <a:srgbClr val="444444"/>
                </a:solidFill>
                <a:effectLst/>
                <a:latin typeface="Segoe UI" panose="020B0502040204020203" pitchFamily="34" charset="0"/>
              </a:rPr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BC10986-1AA0-4C70-F5D5-3EBAA9432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858"/>
            <a:ext cx="10515600" cy="487910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601C57-1287-D6E3-2FBF-A36FB1BB1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385" y="1434109"/>
            <a:ext cx="3648584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618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A7FC55-B46E-CB80-6682-955660AA7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0853" y="560388"/>
            <a:ext cx="6440128" cy="5616575"/>
          </a:xfrm>
        </p:spPr>
      </p:pic>
    </p:spTree>
    <p:extLst>
      <p:ext uri="{BB962C8B-B14F-4D97-AF65-F5344CB8AC3E}">
        <p14:creationId xmlns:p14="http://schemas.microsoft.com/office/powerpoint/2010/main" val="3139284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198</Words>
  <Application>Microsoft Office PowerPoint</Application>
  <PresentationFormat>Widescreen</PresentationFormat>
  <Paragraphs>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Tw Cen MT</vt:lpstr>
      <vt:lpstr>Office Theme</vt:lpstr>
      <vt:lpstr>TECHNICAL MECHANICS</vt:lpstr>
      <vt:lpstr>ANALYSIS OF A BEAM WITH AN INCLINED LOAD</vt:lpstr>
      <vt:lpstr>In this problem the user could either determine sections of the elements of structures, such as trusses, columns and beams etc </vt:lpstr>
      <vt:lpstr>Beam Problem</vt:lpstr>
      <vt:lpstr>Calculations for Reaction Forces</vt:lpstr>
      <vt:lpstr>Calculations for Shear Forces and Bending Moments</vt:lpstr>
      <vt:lpstr>SFD AND BMD FROM CODE</vt:lpstr>
      <vt:lpstr>OUTPUT DATA FROM CODE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njoroge</dc:creator>
  <cp:lastModifiedBy>john njoroge</cp:lastModifiedBy>
  <cp:revision>18</cp:revision>
  <dcterms:created xsi:type="dcterms:W3CDTF">2023-12-08T07:21:47Z</dcterms:created>
  <dcterms:modified xsi:type="dcterms:W3CDTF">2023-12-15T11:20:30Z</dcterms:modified>
</cp:coreProperties>
</file>